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2A44"/>
                </a:solidFill>
              </a:rPr>
              <a:t>Adaptive Robustness Margins for CBFs</a:t>
            </a:r>
          </a:p>
          <a:p>
            <a:pPr algn="l"/>
            <a:r>
              <a:rPr sz="2000" i="1">
                <a:solidFill>
                  <a:srgbClr val="0F7684"/>
                </a:solidFill>
              </a:rPr>
              <a:t>via Privileged-Observation Reinforcement Learning — A Quadrupedal Safety-Filter Case Study</a:t>
            </a:r>
          </a:p>
          <a:p>
            <a:pPr algn="l">
              <a:spcBef>
                <a:spcPts val="2000"/>
              </a:spcBef>
            </a:pPr>
            <a:r>
              <a:rPr sz="1600">
                <a:solidFill>
                  <a:srgbClr val="555555"/>
                </a:solidFill>
              </a:rPr>
              <a:t>Xianmai Liang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The problem with safe robots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38000"/>
          </a:xfrm>
          <a:prstGeom prst="rect">
            <a:avLst/>
          </a:prstGeom>
          <a:solidFill>
            <a:srgbClr val="0F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</a:rPr>
              <a:t>CBFs in theory. </a:t>
            </a:r>
            <a:r>
              <a:rPr sz="2000">
                <a:solidFill>
                  <a:srgbClr val="101010"/>
                </a:solidFill>
              </a:rPr>
              <a:t>Reduce safety to a pointwise affine constraint on the control input — solve a small QP, get formal forward-invariance of the safe set.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</a:rPr>
              <a:t>Reality breaks every assumption. </a:t>
            </a:r>
            <a:r>
              <a:rPr sz="2000">
                <a:solidFill>
                  <a:srgbClr val="101010"/>
                </a:solidFill>
              </a:rPr>
              <a:t>Friction varies, payloads shift the COM, perception is noisy, the robot has a body.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</a:rPr>
              <a:t>Robust CBF variants add tightening parameters </a:t>
            </a:r>
            <a:r>
              <a:rPr sz="2000">
                <a:solidFill>
                  <a:srgbClr val="101010"/>
                </a:solidFill>
              </a:rPr>
              <a:t>(α, φ, a, c) — but worst-case-derived values are crushingly conservative. The robot freezes or refuses to move.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</a:rPr>
              <a:t>Hand-tuning is the practical workaround. </a:t>
            </a:r>
            <a:r>
              <a:rPr sz="2000">
                <a:solidFill>
                  <a:srgbClr val="101010"/>
                </a:solidFill>
              </a:rPr>
              <a:t>But it's brittle to environments unlike the tuning set, and gives no recipe for new scenes.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Research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38000"/>
          </a:xfrm>
          <a:prstGeom prst="rect">
            <a:avLst/>
          </a:prstGeom>
          <a:solidFill>
            <a:srgbClr val="0F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44"/>
                </a:solidFill>
              </a:rPr>
              <a:t>Can a learned policy adapt the robust-CBF parameters online,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44"/>
                </a:solidFill>
              </a:rPr>
              <a:t>conditioning on what the environment currently looks like?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91840"/>
            <a:ext cx="10972800" cy="1828800"/>
          </a:xfrm>
          <a:prstGeom prst="roundRect">
            <a:avLst/>
          </a:prstGeom>
          <a:solidFill>
            <a:srgbClr val="0F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800" b="0">
                <a:solidFill>
                  <a:srgbClr val="FFFFFF"/>
                </a:solidFill>
              </a:rPr>
              <a:t>Approach: borrow the Rapid Motor Adaptation (RMA) architecture — a privileged-observation teacher reads dynamics + a top-down occupancy grid, and outputs the robustification tuple (α, φ, a, c) per timestep, feeding a robust-CBF QP that wraps an off-the-shelf locomotion controller.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</a:rPr>
              <a:t>Non-negativity is enforced by construction → qualitative robust-safety guarantee preserved for whatever uncertainty bounds the policy chooses.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Background: control barrier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38000"/>
          </a:xfrm>
          <a:prstGeom prst="rect">
            <a:avLst/>
          </a:prstGeom>
          <a:solidFill>
            <a:srgbClr val="0F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01010"/>
                </a:solidFill>
              </a:rPr>
              <a:t>Safe set  C = { x : h(x) ≥ 0 }.  A CBF condition tightens to a pointwise affine constraint on the control: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103120"/>
            <a:ext cx="7589520" cy="8229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2400" b="1">
                <a:solidFill>
                  <a:srgbClr val="FFFFFF"/>
                </a:solidFill>
              </a:rPr>
              <a:t>L_f h(x)  +  L_g h(x) · u   ≥   −α · h(x)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01010"/>
                </a:solidFill>
              </a:rPr>
              <a:t>Robust variants (Kolathaya 2018 ISSf, Cosner 2022 TISSf, Dean 2019, Molnar 2021) tighten the RHS: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10332720" cy="822960"/>
          </a:xfrm>
          <a:prstGeom prst="roundRect">
            <a:avLst/>
          </a:prstGeom>
          <a:solidFill>
            <a:srgbClr val="C45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2000" b="1">
                <a:solidFill>
                  <a:srgbClr val="FFFFFF"/>
                </a:solidFill>
              </a:rPr>
              <a:t>L_g h · û  −  φ ‖L_g h‖²  −  a  −  b ‖û‖₂  +  α (h − c)   ≥  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</a:rPr>
              <a:t>Each tightening parameter absorbs a specific class of uncertainty.  Set them too large → frozen robot.  Set them too small → safety guarantee shrinks.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The four-parameter action 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38000"/>
          </a:xfrm>
          <a:prstGeom prst="rect">
            <a:avLst/>
          </a:prstGeom>
          <a:solidFill>
            <a:srgbClr val="0F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</a:rPr>
              <a:t>Each parameter maps to a specific uncertainty class — the policy adapts them per timestep.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334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Param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Range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Uncertainty class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1010"/>
                          </a:solidFill>
                        </a:rPr>
                        <a:t>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[0.1, 5.0]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Class-K slope on shifted h(x) −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Model / tracking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1010"/>
                          </a:solidFill>
                        </a:rPr>
                        <a:t>φ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[0.0, 5.0]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Coefficient on ‖L_g h‖²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Actuation uncertainty (ISSf)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1010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[0.0, 0.5]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Additive RHS slack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Measurement uncertainty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1010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[0.0, 0.5]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Inward shift of safe-set boundary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Boundary correction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1010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(unused)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Reserved for input-dep slack b‖u‖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Would require SOCP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212080"/>
            <a:ext cx="10972800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600" b="0">
                <a:solidFill>
                  <a:srgbClr val="FFFFFF"/>
                </a:solidFill>
              </a:rPr>
              <a:t>Output non-negativity → robust-safety theorem (Cosner 2022) holds for whatever uncertainty bounds the policy's outputs encode.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Method: privileged-obs teacher → robust-CBF QP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38000"/>
          </a:xfrm>
          <a:prstGeom prst="rect">
            <a:avLst/>
          </a:prstGeom>
          <a:solidFill>
            <a:srgbClr val="0F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218883" cy="8229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Privileged obs
8207-D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76083" y="1691640"/>
            <a:ext cx="45720" cy="365760"/>
          </a:xfrm>
          <a:prstGeom prst="rightArrow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21803" y="1463040"/>
            <a:ext cx="2218883" cy="822960"/>
          </a:xfrm>
          <a:prstGeom prst="roundRect">
            <a:avLst/>
          </a:prstGeom>
          <a:solidFill>
            <a:srgbClr val="0F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CNN+MLP encoder
→ Z(12)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40686" y="1691640"/>
            <a:ext cx="45720" cy="365760"/>
          </a:xfrm>
          <a:prstGeom prst="rightArrow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86406" y="1463040"/>
            <a:ext cx="2218883" cy="822960"/>
          </a:xfrm>
          <a:prstGeom prst="roundRect">
            <a:avLst/>
          </a:prstGeom>
          <a:solidFill>
            <a:srgbClr val="C45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π_teacher
→ (α, φ, a, c)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205289" y="1691640"/>
            <a:ext cx="45720" cy="365760"/>
          </a:xfrm>
          <a:prstGeom prst="rightArrow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51009" y="1463040"/>
            <a:ext cx="2218883" cy="8229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Robust-CBF QP
(closed-form)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69892" y="1691640"/>
            <a:ext cx="45720" cy="365760"/>
          </a:xfrm>
          <a:prstGeom prst="rightArrow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15612" y="1463040"/>
            <a:ext cx="2218883" cy="82296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Locomotion
(frozen)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</a:rPr>
              <a:t>Drop-in safety filter:  the locomotion controller is fixed and frozen — works with any user's stack.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11247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01010"/>
                </a:solidFill>
              </a:rPr>
              <a:t>• Single-integrator surrogate: ẋ_robot = u   →   QP is a closed-form half-space projection on GPU (no infeasibilities observed).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01010"/>
                </a:solidFill>
              </a:rPr>
              <a:t>• Robot footprint enters as Minkowski expansion by 0.15 m so h = 0 aligns with physical contact.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01010"/>
                </a:solidFill>
              </a:rPr>
              <a:t>• u_des never enters the network — it is a sidecar to the CBF, only used in reward (‖u_safe − u_des‖²).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01010"/>
                </a:solidFill>
              </a:rPr>
              <a:t>• Per-step adaptation distinguishes us from per-episode α-calibration baselines (e.g., SHIELD).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Privileged observation + network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38000"/>
          </a:xfrm>
          <a:prstGeom prst="rect">
            <a:avLst/>
          </a:prstGeom>
          <a:solidFill>
            <a:srgbClr val="0F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A44"/>
                </a:solidFill>
              </a:rPr>
              <a:t>Privileged observation (8207-D)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Block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Dim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010"/>
                          </a:solidFill>
                        </a:rPr>
                        <a:t>Dynamics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Body velocities, ext. force/torque, friction, COM offset, last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010"/>
                          </a:solidFill>
                        </a:rPr>
                        <a:t>Occupancy grid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2 × 64 × 64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Two-frame top-down, 0.1 m / cell, 6.4 m FOV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57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Two-frame stacking encodes obstacle motion (grid_t − grid_{t−1}).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A44"/>
                </a:solidFill>
              </a:rPr>
              <a:t>Network (~600 k actor params)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</a:rPr>
              <a:t>• Grid:  Conv(2→16, s=2) → Conv(16→32, s=2) → Linear(8192→64)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</a:rPr>
              <a:t>• Dynamics:  Linear(15 → 64)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</a:rPr>
              <a:t>• Concat → Linear(128 → 128) → Linear(128 → z)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</a:rPr>
              <a:t>• Latent:  Z ∈ ℝ¹²  (RMA-style bottleneck; get_z(obs) exposed)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</a:rPr>
              <a:t>• π-head:  Z → (α, φ, a, b, c), tanh-squash to physical range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</a:rPr>
              <a:t>• V-head: separate critic encoder (no shared params)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Reward design +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38000"/>
          </a:xfrm>
          <a:prstGeom prst="rect">
            <a:avLst/>
          </a:prstGeom>
          <a:solidFill>
            <a:srgbClr val="0F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</a:rPr>
              <a:t>Reward stack (5 terms)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5486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Trigger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010"/>
                          </a:solidFill>
                        </a:rPr>
                        <a:t>collision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−100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obstacle contact (terminal)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010"/>
                          </a:solidFill>
                        </a:rPr>
                        <a:t>infeasibility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−10 / step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QP infeasible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010"/>
                          </a:solidFill>
                        </a:rPr>
                        <a:t>u_safe deviation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−0.1 ‖u_safe − u_des‖²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per-step (light-touch filter)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010"/>
                          </a:solidFill>
                        </a:rPr>
                        <a:t>proximity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−1.0 · exp(−min_sdf / 0.5)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per-step (gradient near obstacles)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010"/>
                          </a:solidFill>
                        </a:rPr>
                        <a:t>action_rate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−5×10⁻³ ‖Δa‖²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per-step (smooth CBF params)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572C"/>
                </a:solidFill>
              </a:rPr>
              <a:t>Negative results we recorded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7492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•  Proximity = −5 → policy maxed distance instead of progress (φ̄ rose to 2.79). Halved to −1.
•  Weight decay 1e-4 → action_std collapsed to 0.06; exploration died. Final: 1e-5 + entropy 5e-3.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</a:rPr>
              <a:t>Training (PPO)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101010"/>
                </a:solidFill>
              </a:rPr>
              <a:t>4096 parallel envs × 3000 iters  (~3 h on RTX 5090)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01010"/>
                </a:solidFill>
              </a:rPr>
              <a:t>AdamW, weight_decay = 1e-5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01010"/>
                </a:solidFill>
              </a:rPr>
              <a:t>entropy_coef = 5e-3  (load-bearing)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01010"/>
                </a:solidFill>
              </a:rPr>
              <a:t>Episode length 20 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01010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F2A44"/>
                </a:solidFill>
              </a:rPr>
              <a:t>Domain randomization (per-reset)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01010"/>
                </a:solidFill>
              </a:rPr>
              <a:t>  •  friction: μs ∈ [0.30, 1.20], μd ∈ [0.20, 1.00]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01010"/>
                </a:solidFill>
              </a:rPr>
              <a:t>  •  external force ±10 N, torque ±2 Nm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01010"/>
                </a:solidFill>
              </a:rPr>
              <a:t>  •  COM offset ±5 cm xy / ±3 cm z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01010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F2A44"/>
                </a:solidFill>
              </a:rPr>
              <a:t>Multi-planner mix (the deploy-realistic distribution)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01010"/>
                </a:solidFill>
              </a:rPr>
              <a:t>  •  smooth_goal 0.40 / waypoint 0.25 / mpc 0.20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01010"/>
                </a:solidFill>
              </a:rPr>
              <a:t>  •  walk 0.05 / adversarial 0.05 / legacy 0.05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Evaluation: 24-config baseline sweep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38000"/>
          </a:xfrm>
          <a:prstGeom prst="rect">
            <a:avLst/>
          </a:prstGeom>
          <a:solidFill>
            <a:srgbClr val="0F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</a:rPr>
              <a:t>Each baseline is a special case of the same robust-CBF constraint.  We tune each family's grid and report the BEST configuration per task.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8308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9377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Family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Form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Grid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# configs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1010"/>
                          </a:solidFill>
                        </a:rPr>
                        <a:t>B0  (plain)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φ = a = c = 0;  α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α ∈ {0.5, 1.5, 3.0}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1010"/>
                          </a:solidFill>
                        </a:rPr>
                        <a:t>B1  (ISSf)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φ scalar, a = c = 0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α × φ ∈ {0.5, 1.5, 3.0}²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1010"/>
                          </a:solidFill>
                        </a:rPr>
                        <a:t>B2  (TISSf)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φ(h) = (1/ε₀) exp(−λh),  a = c =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α × ε₀ × λ  (3 × 2 ×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1010"/>
                          </a:solidFill>
                        </a:rPr>
                        <a:t>RL-CBF (ours)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Per-step learned (α, φ, a, c)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</a:rPr>
              <a:t>Metric:  combined fall + stuck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Fall = body-contact-with-floor termination.  Stuck = horizontal speed below 0.10 m/s for more than half the episode.
Including stuck is critical:  earlier evals hid a 22-pp block of failures inside "timeout successes" — a robot frozen safely is not a useful robot.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Headline result (in-distribution)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38000"/>
          </a:xfrm>
          <a:prstGeom prst="rect">
            <a:avLst/>
          </a:prstGeom>
          <a:solidFill>
            <a:srgbClr val="0F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</a:rPr>
              <a:t>RL-CBF achieves the lowest fall, lowest stuck, and lowest combined failure of any of the 25 configurations evaluated.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Mode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Best config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Fall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Stuck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Combined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h̄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φ̄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1010"/>
                          </a:solidFill>
                        </a:rPr>
                        <a:t>B0 plain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α = 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0.293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0.226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0.519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0.305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0.005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1010"/>
                          </a:solidFill>
                        </a:rPr>
                        <a:t>B1 ISSf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α = 0.50,  φ = 1.50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0.296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0.119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0.415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0.371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1.50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1010"/>
                          </a:solidFill>
                        </a:rPr>
                        <a:t>B2 TISSf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α = 1.50,  ε₀ = 0.50,  λ = 1.0  (best 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0.243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0.132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0.375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0.371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1.43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1010"/>
                          </a:solidFill>
                        </a:rPr>
                        <a:t>RL-CBF (ours)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teacher policy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0.231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0.075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0.306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0.413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01010"/>
                          </a:solidFill>
                        </a:rPr>
                        <a:t>0.91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297680"/>
            <a:ext cx="11247120" cy="8229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2200" b="1">
                <a:solidFill>
                  <a:srgbClr val="FFFFFF"/>
                </a:solidFill>
              </a:rPr>
              <a:t>+6.9 pp WIN  on combined fall + stuck  vs. the best of 24 hand-tuned baselines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492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Statistical caveat:  ~134 episodes per config → SE ≈ 3–4 pp; the gap is ~2σ.  Camera-ready run will use paired evaluation (variance ↓ 5–10×).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Why does it win?  Behavioral reading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38000"/>
          </a:xfrm>
          <a:prstGeom prst="rect">
            <a:avLst/>
          </a:prstGeom>
          <a:solidFill>
            <a:srgbClr val="0F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01010"/>
                </a:solidFill>
              </a:rPr>
              <a:t>Hand-tuned baselines that match RL-CBF's fall rate buy that safety with a bigger nominal margin (high φ̄).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11247120" cy="91440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2200" b="1">
                <a:solidFill>
                  <a:srgbClr val="FFFFFF"/>
                </a:solidFill>
              </a:rPr>
              <a:t>RL-CBF: same fall safety  +  LOWER φ̄ (0.91)  +  HIGHER h̄ (0.413)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</a:rPr>
              <a:t>It lets the robot operate closer to its (relaxed) safety boundary while keeping larger absolute distance from obstacles.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A44"/>
                </a:solidFill>
              </a:rPr>
              <a:t>The mechanism is adaptation: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</a:rPr>
              <a:t>→  Spend robustness budget where the scene calls for it.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</a:rPr>
              <a:t>→  Save it where it does not — open space, slow-moving obstacles, robot on solid ground.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</a:rPr>
              <a:t>→  Static baselines can't do this — they apply the same robustness everywhere.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Out-of-distribution generalization (5 single-knob shifts)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38000"/>
          </a:xfrm>
          <a:prstGeom prst="rect">
            <a:avLst/>
          </a:prstGeom>
          <a:solidFill>
            <a:srgbClr val="0F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Each shift pushes ONE randomization axis past the training range while keeping the others at training distribution.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Eval axis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RL-CBF combined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Best baseline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Margin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01010"/>
                          </a:solidFill>
                        </a:rPr>
                        <a:t>In-dist (ref)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mixed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0.306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0.375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+6.9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01010"/>
                          </a:solidFill>
                        </a:rPr>
                        <a:t>Slippery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priv-obs (continuous friction)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0.411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0.453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+4.1 pp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01010"/>
                          </a:solidFill>
                        </a:rPr>
                        <a:t>HighDisturbance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priv-obs (episodic force / torque)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0.341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0.431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+9.0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01010"/>
                          </a:solidFill>
                        </a:rPr>
                        <a:t>HeavyCOM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priv-obs (startup COM bias)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0.331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0.390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+5.9 pp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01010"/>
                          </a:solidFill>
                        </a:rPr>
                        <a:t>FastObstacles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priv-obs (grid history)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0.338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0.444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+10.5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01010"/>
                          </a:solidFill>
                        </a:rPr>
                        <a:t>DensePack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scene-only (h(x) symmetric)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0.338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0.344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+0.5 pp  (tie)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01010"/>
                          </a:solidFill>
                        </a:rPr>
                        <a:t>RealisticCompound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all 5 simultaneously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0.500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0.497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01010"/>
                          </a:solidFill>
                        </a:rPr>
                        <a:t>−0.3 pp  (tie)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852160"/>
            <a:ext cx="11247120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800" b="1">
                <a:solidFill>
                  <a:srgbClr val="FFFFFF"/>
                </a:solidFill>
              </a:rPr>
              <a:t>5 priv-obs WINS (+4.1 to +10.5 pp)   ·   1 scene-only TIE   ·   1 compositional TIE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The pattern is sharper than "wins everywhere"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38000"/>
          </a:xfrm>
          <a:prstGeom prst="rect">
            <a:avLst/>
          </a:prstGeom>
          <a:solidFill>
            <a:srgbClr val="0F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155448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800" b="1">
                <a:solidFill>
                  <a:srgbClr val="FFFFFF"/>
                </a:solidFill>
              </a:rPr>
              <a:t>RL-CBF wins on every axis whose disturbance signal is in the privileged-observation vector,
and ties the best baseline within statistical noise on scene-only shifts.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7D32"/>
                </a:solidFill>
              </a:rPr>
              <a:t>Wins  (priv-obs aligned)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101010"/>
                </a:solidFill>
              </a:rPr>
              <a:t>✓  Slippery — friction in dyn block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01010"/>
                </a:solidFill>
              </a:rPr>
              <a:t>✓  HighDisturbance — applied force in dyn block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01010"/>
                </a:solidFill>
              </a:rPr>
              <a:t>✓  HeavyCOM — COM offset in dyn block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01010"/>
                </a:solidFill>
              </a:rPr>
              <a:t>✓  FastObstacles — motion via grid history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01010"/>
                </a:solidFill>
              </a:rPr>
              <a:t>✓  (In-dist headline: all of the above)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55555"/>
                </a:solidFill>
              </a:rPr>
              <a:t>Ties  (playing field is symmetric)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520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101010"/>
                </a:solidFill>
              </a:rPr>
              <a:t>≈  DensePack — only h(x) shifts; baselines see the same h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01010"/>
                </a:solidFill>
              </a:rPr>
              <a:t>≈  RealisticCompound — joint high-tail not in training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1F2A44"/>
                </a:solidFill>
              </a:rPr>
              <a:t>→ The win comes specifically from privileged information — exactly as the architecture was designed 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Limitations +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38000"/>
          </a:xfrm>
          <a:prstGeom prst="rect">
            <a:avLst/>
          </a:prstGeom>
          <a:solidFill>
            <a:srgbClr val="0F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</a:rPr>
              <a:t>Sim-only — sim-to-real transfer of a learned safety filter requires three things we have not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C4572C"/>
                </a:solidFill>
              </a:rPr>
              <a:t>(i)  </a:t>
            </a:r>
            <a:r>
              <a:rPr sz="1600">
                <a:solidFill>
                  <a:srgbClr val="101010"/>
                </a:solidFill>
              </a:rPr>
              <a:t>Calibrate the LiDAR-derived occupancy grid against real Mid-360 data — drop-out and spurious-return rates we did not inject during training.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C4572C"/>
                </a:solidFill>
              </a:rPr>
              <a:t>(ii)  </a:t>
            </a:r>
            <a:r>
              <a:rPr sz="1600">
                <a:solidFill>
                  <a:srgbClr val="101010"/>
                </a:solidFill>
              </a:rPr>
              <a:t>Replace the analytical SDF with a distance-transformed occupancy grid at deploy time (close the train/deploy h-pipeline gap).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C4572C"/>
                </a:solidFill>
              </a:rPr>
              <a:t>(iii)  </a:t>
            </a:r>
            <a:r>
              <a:rPr sz="1600">
                <a:solidFill>
                  <a:srgbClr val="101010"/>
                </a:solidFill>
              </a:rPr>
              <a:t>Student distillation step:  (LiDAR + base_vel + history) → Ẑ ∈ ℝ¹² → frozen π_teacher.  RMA student-side; standard recipe.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</a:rPr>
              <a:t>Other open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49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•  b slot reserved but unused  →  would require SOCP solver instead of closed-form half-space projection.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•  Compositional generalization (RealisticCompound tie)  →  joint high-tail untrained.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</a:rPr>
              <a:t>•  Paired evaluation (same seed list across all 25 configs)  →  variance reduction 5–10× for camera-ready.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38000"/>
          </a:xfrm>
          <a:prstGeom prst="rect">
            <a:avLst/>
          </a:prstGeom>
          <a:solidFill>
            <a:srgbClr val="0F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21945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800" b="0">
                <a:solidFill>
                  <a:srgbClr val="FFFFFF"/>
                </a:solidFill>
              </a:rPr>
              <a:t>A privileged-observation RL teacher learns the four robust-CBF parameters per timestep.
Beats the best of 24 hand-tuned baselines by +6.9 pp combined fall + stuck in-distribution.
Wins on every privileged-obs aligned OOD axis.  Ties on scene-only / compositional shifts.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A44"/>
                </a:solidFill>
              </a:rP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01010"/>
                </a:solidFill>
              </a:rPr>
              <a:t>→  Robust-CBF parameters can be adapted online — no need to commit to one conservative tuple.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01010"/>
                </a:solidFill>
              </a:rPr>
              <a:t>→  Drop-in design:  works with any frozen locomotion stack.  Safety guarantee preserved by output non-negativity.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01010"/>
                </a:solidFill>
              </a:rPr>
              <a:t>→  Per-step adaptation gives a clean differentiation from per-episode α-calibration baselines (e.g., SHIELD).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4572C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